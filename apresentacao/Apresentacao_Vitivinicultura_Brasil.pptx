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303966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RELATÓRIO EXECUTIVO DE DATA ANALYTICS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71538" y="1321929"/>
            <a:ext cx="7758113" cy="1488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32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Vinhos, Espumantes</a:t>
            </a:r>
            <a:r>
              <a:rPr lang="en-US" sz="32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
</a:t>
            </a:r>
            <a:r>
              <a:rPr lang="en-US" sz="32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 Sucos de Uva:</a:t>
            </a:r>
            <a:r>
              <a:rPr lang="en-US" sz="32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
</a:t>
            </a:r>
            <a:r>
              <a:rPr lang="en-US" sz="32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 Brasil no Comércio Internacional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71538" y="3010086"/>
            <a:ext cx="6143625" cy="619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Análise de dados de exportação e importação (1970–2025) para orientar as decisões estratégicas da diretoria, com base na série histórica oficial da vitivinicultura brasileira.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4350" y="4476341"/>
            <a:ext cx="2914650" cy="35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2000"/>
              </a:lnSpc>
              <a:buNone/>
            </a:pPr>
            <a:r>
              <a:rPr lang="en-US" sz="65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Fonte de dados: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Vitibrasil — Embrapa Uva e Vinho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5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Ferramentas: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Python · pandas · matplotlib · seaborn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614988" y="4504134"/>
            <a:ext cx="3014663" cy="325041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56 ANOS DE DADOS · 3 CATEGORIAS · 2 FLUXOS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14325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 HISTÓRIA QUE OS DADOS CONTAM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96491"/>
            <a:ext cx="8072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56 anos de dados revelam um mercado que importa 26 vezes mais do que exporta — e onde estão as oportunidades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14350" y="1325166"/>
            <a:ext cx="254317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95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26:1</a:t>
            </a:r>
            <a:endParaRPr lang="en-US" sz="4950" dirty="0"/>
          </a:p>
        </p:txBody>
      </p:sp>
      <p:sp>
        <p:nvSpPr>
          <p:cNvPr id="6" name="Text 3"/>
          <p:cNvSpPr/>
          <p:nvPr/>
        </p:nvSpPr>
        <p:spPr>
          <a:xfrm>
            <a:off x="514350" y="2082403"/>
            <a:ext cx="254317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 a razão entre o valor </a:t>
            </a:r>
            <a:r>
              <a:rPr lang="en-US" sz="7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importado</a:t>
            </a:r>
            <a:r>
              <a:rPr lang="en-US" sz="7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 o </a:t>
            </a:r>
            <a:r>
              <a:rPr lang="en-US" sz="7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valor </a:t>
            </a:r>
            <a:r>
              <a:rPr lang="en-US" sz="7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exportado</a:t>
            </a:r>
            <a:r>
              <a:rPr lang="en-US" sz="7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pelo Brasil em 2025, </a:t>
            </a:r>
            <a:r>
              <a:rPr lang="en-US" sz="7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somando vinhos de mesa, espumantes e </a:t>
            </a:r>
            <a:r>
              <a:rPr lang="en-US" sz="7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sucos de uva.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14350" y="2965326"/>
            <a:ext cx="2543175" cy="108049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Metodologia ·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bases oficiais da Embrapa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(exportação e importação das 3 categorias), ~29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 registros país-ano-produto tratados via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(pandas, matplotlib, seaborn). Valores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 US$ como critério principal; volumes em Kg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(1 Kg ≈ 1 L, convenção Embrapa).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3700463" y="1562807"/>
            <a:ext cx="41433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271963" y="1702110"/>
            <a:ext cx="435768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Onde vendemos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71963" y="1898563"/>
            <a:ext cx="43576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países líderes na compra dos nossos vinhos de mesa, espumantes e sucos de uva ao longo de todo o período.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700463" y="2551881"/>
            <a:ext cx="41433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271963" y="2691185"/>
            <a:ext cx="41148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 onde compramos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71963" y="2887638"/>
            <a:ext cx="411480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fornecedores internacionais que dominam o mercado interno brasileiro.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700463" y="3386696"/>
            <a:ext cx="41433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271963" y="3525999"/>
            <a:ext cx="435768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As tendências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71963" y="3722452"/>
            <a:ext cx="43576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evolução dos fluxos de exportação e importação em 56 anos — e o que muda agora.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700463" y="4375770"/>
            <a:ext cx="41433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271963" y="4515073"/>
            <a:ext cx="435768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 contexto e as recomendações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71963" y="4711526"/>
            <a:ext cx="43576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Produção nacional, clima favorável e as alavancas estratégicas para a diretoria.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P1 · EXPORTAÇÃO — ACUMULADO 1970–2025 (VALOR US$)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Paraguai, Estados Unidos e Japão: três produtos, três mercados-âncora completamente distintos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1153716"/>
            <a:ext cx="25431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VINHOS DE MESA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14350" y="1293019"/>
            <a:ext cx="2543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Paraguai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4350" y="1621631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US$ 102,7 mi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127,6 mi Kg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2º EUA (73,4) · 3º Rússia (25,9)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300413" y="1153716"/>
            <a:ext cx="25431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ESPUMANTES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300413" y="1293019"/>
            <a:ext cx="2543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Estados Unidos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00413" y="1621631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US$ 11,2 mi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3,97 mi Kg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Quase 4x o 2º colocado (Paraguai)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086475" y="1153716"/>
            <a:ext cx="25431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SUCO DE UVA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086475" y="1293019"/>
            <a:ext cx="2543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Japão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6475" y="1621631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US$ 203,8 mi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95,4 mi Kg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Maior valor acumulado da série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2075929"/>
            <a:ext cx="7786688" cy="242173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4350" y="4611960"/>
            <a:ext cx="8115300" cy="3643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Insight ·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 suco de uva é o produto brasileiro com maior poder de penetração em mercados exigentes: o Japão paga preço médio de US$ 2,14/Kg, contra US$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0,80/Kg do vinho de mesa vendido ao Paraguai.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P2 · IMPORTAÇÃO — ACUMULADO 1970–2025 (VALOR US$)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Chile domina o vinho, França o espumante, Argentina o suco — vizinhança e tradição ditam as compras do Brasil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1153716"/>
            <a:ext cx="25431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VINHOS DE MESA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14350" y="1293019"/>
            <a:ext cx="2543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Chile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4350" y="1621631"/>
            <a:ext cx="2543175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US$ 2,61 bi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981,1 mi Kg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2º Argentina (1,26 bi) · 3º Portugal (1,10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bi)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300413" y="1153716"/>
            <a:ext cx="25431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ESPUMANTES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300413" y="1293019"/>
            <a:ext cx="2543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França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00413" y="1621631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US$ 403,0 mi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38,1 mi Kg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Champagne: ~4x Espanha e Itália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086475" y="1153716"/>
            <a:ext cx="25431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SUCO DE UVA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086475" y="1293019"/>
            <a:ext cx="25431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Argentina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6475" y="1621631"/>
            <a:ext cx="25431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US$ 23,4 mi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· 28,0 mi Kg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Importação marginal: Brasil autossuficiente</a:t>
            </a:r>
            <a:endParaRPr lang="en-US" sz="6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2224497"/>
            <a:ext cx="7786688" cy="2414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4350" y="4753384"/>
            <a:ext cx="8115300" cy="3643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Insight ·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 concorrente direto do produtor nacional no mercado interno não é outro vinho brasileiro: é o vinho chileno de entrada, favorecido por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tarifa zero (acordo Mercosul–Chile) e câmbio competitivo.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P3 · TENDÊNCIA DA EXPORTAÇÃO — 1970–2025 (VALOR US$)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Exportações voláteis e dependentes de poucos compradores — mas espumantes emergem como aposta consistente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1225153"/>
            <a:ext cx="247179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VINHOS DE MESA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14350" y="1371600"/>
            <a:ext cx="247179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 volatilidade: picos em 1993–1997 (~US$ 15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mi/ano) e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recorde em 2013 (~US$ 23 mi)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puxado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embarques à Rússia; queda acentuada em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seguida e recuperação gradual desde 2020 (~US$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10,8 mi em 2025).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14350" y="2264569"/>
            <a:ext cx="247179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B2FA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SUCO DE UVA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514350" y="2411016"/>
            <a:ext cx="247179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Crescimento estruturado dos anos 1980 até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meados dos 2010 (patamar de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US$ 8–16 mi/ano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demanda Japão/EUA); retração pós-2014 e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retomada recente.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4350" y="3161109"/>
            <a:ext cx="247179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ESPUMANTES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14350" y="3307556"/>
            <a:ext cx="247179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Historicamente marginais, mas em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trajetória de alta contínua desde 2010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(~US$ 2,5–2,9 mi/ano)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 única categoria com tendência estrutural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crescimento.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14350" y="4007644"/>
            <a:ext cx="2471793" cy="67151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Insight ·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 dependência de mercados únicos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(Rússia em 2013, Paraguai hoje) torna a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receita volátil; diversificar destinos é a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alavanca prioritária.</a:t>
            </a:r>
            <a:endParaRPr lang="en-US" sz="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5" y="1866305"/>
            <a:ext cx="5172075" cy="25503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P4 · TENDÊNCIA DA IMPORTAÇÃO — 1970–2025 (VALOR US$)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Importações de vinho explodiram 10x desde 2000 e bateram recorde em 2025 — o mercado interno é o campo de batalha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1139428"/>
            <a:ext cx="24003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65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US$ 515 mi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514350" y="1553766"/>
            <a:ext cx="2400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importados em vinhos de mesa em 2025 — novo recorde histórico da série, ante ~US$ 50 mi em 2002.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14350" y="2189559"/>
            <a:ext cx="2400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VINHOS DE MESA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514350" y="2336006"/>
            <a:ext cx="240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Inflexão nos anos 1990 (abertura comercial,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Plano Real, Mercosul) e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aceleração forte a partir de 2005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com crescimento estrutural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contínuo.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4350" y="3114675"/>
            <a:ext cx="2400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ESPUMANTES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14350" y="3261122"/>
            <a:ext cx="2400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Crescimento gradual e consistente, atingindo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~US$ 44 mi/ano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em 2025.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14350" y="3754041"/>
            <a:ext cx="2400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SUCO DE UVA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4350" y="3900488"/>
            <a:ext cx="2400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Linha praticamente nula em toda a série —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autossuficiência nacional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6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719" y="1139428"/>
            <a:ext cx="5143500" cy="25431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64719" y="3796903"/>
            <a:ext cx="5143500" cy="52060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Insight ·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 consumidor brasileiro bebe cada vez mais vinho — na contramão da queda global de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consumo —, mas essa demanda vem sendo capturada pelos importados. Há espaço claro para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estratégia de substituição com qualidade e preço competitivo.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ANÁLISE COMPLEMENTAR · BALANÇA COMERCIAL 1970–2025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Déficit estrutural crescente: para cada US$ 1 exportado, importamos US$ 26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889397"/>
            <a:ext cx="24003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EXPORTAÇÕES 2025 · 3 CATEGORIAS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514350" y="1007269"/>
            <a:ext cx="2400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US$ 21,5 mi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14350" y="1350169"/>
            <a:ext cx="2400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Vinhos de mesa + espumantes + suco de uva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514350" y="1607344"/>
            <a:ext cx="24003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IMPORTAÇÕES 2025 · 3 CATEGORIAS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514350" y="1725216"/>
            <a:ext cx="2400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US$ 560 mi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14350" y="2068116"/>
            <a:ext cx="2400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Maior saldo negativo de toda a série histórica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14350" y="2496741"/>
            <a:ext cx="2400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LEITURA ESTRATÉGICA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4350" y="2693194"/>
            <a:ext cx="185738" cy="548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5813" y="2693194"/>
            <a:ext cx="2128838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mercado doméstico é grande e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comprovadamente disposto a pagar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por vinho 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inclusive premium (França nos 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espumantes).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14350" y="3327425"/>
            <a:ext cx="185738" cy="274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5813" y="3327425"/>
            <a:ext cx="212883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indústria nacional captura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fração pequena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dessa demanda em expansão.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14350" y="3687403"/>
            <a:ext cx="185738" cy="411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5813" y="3687403"/>
            <a:ext cx="2128838" cy="41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exportação ainda é nicho — com exceção 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suco de uva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case comprovado no Japão e 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nos EUA.</a:t>
            </a:r>
            <a:endParaRPr lang="en-US" sz="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431" y="1534846"/>
            <a:ext cx="5172075" cy="25503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50431" y="4170890"/>
            <a:ext cx="5172075" cy="327161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5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 déficit se abriu nos anos 1990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 com a abertura comercial e o Plano Real — e se aprofunda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continuamente desde então. Fonte: Vitibrasil/Embrapa; valores em US$ milhões.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P5 · CENÁRIO DA PRODUÇÃO NACIONAL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11º produtor mundial de vinhos: o RS concentra ~90% do processamento, enquanto o Nordeste irrigado cresce em ritmo acelerado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1239441"/>
            <a:ext cx="2857500" cy="314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11º </a:t>
            </a:r>
            <a:r>
              <a:rPr lang="en-US" sz="21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/ 14º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14350" y="158301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maior produtor mundial de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vinhos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 de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uvas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com ~85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 hectares plantados (IBGE, 2025)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14350" y="2075929"/>
            <a:ext cx="2857500" cy="314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~90%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14350" y="2419499"/>
            <a:ext cx="285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 produção nacional de vinhos, sucos e derivados vem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Rio Grande do Sul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(Serra Gaúcha, Campanha, Serra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 Sudeste), com ~48 mil ha de vinhedos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4350" y="3055293"/>
            <a:ext cx="2857500" cy="314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1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-41% </a:t>
            </a:r>
            <a:r>
              <a:rPr lang="en-US" sz="21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→ +39%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14350" y="3398862"/>
            <a:ext cx="285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vinho nacional caiu a 2,1 mi hl em 2024 (chuvas extremas no RS, OIV); a safra gaúcha de uvas se recuperou de 687 mil t para ~957 mil t em 2025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957638" y="1139428"/>
            <a:ext cx="467201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PRODUÇÃO DE UVAS POR ESTADO (MIL TONELADAS)</a:t>
            </a:r>
            <a:endParaRPr lang="en-US" sz="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638" y="1321594"/>
            <a:ext cx="4672013" cy="19288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7638" y="3493294"/>
            <a:ext cx="467201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COMERCIALIZAÇÃO RS · 1º SEMESTRE 2025 VS 2024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957638" y="3675459"/>
            <a:ext cx="1424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+16,9%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57638" y="3918347"/>
            <a:ext cx="1424006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Espumantes (5,1 mi L) — a "joia da coroa" do setor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5581669" y="3675459"/>
            <a:ext cx="1424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-29,2%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81669" y="3918347"/>
            <a:ext cx="1424006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Suco concentrado; integral -9,4% — categoria que absorve ~50% das uvas do RS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7205700" y="3675459"/>
            <a:ext cx="1424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+0,1%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205700" y="3918347"/>
            <a:ext cx="1424006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Vinhos de mesa estáveis (91,4 mi L), o maior volume do mix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3957638" y="4373761"/>
            <a:ext cx="467201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Fontes: IBGE / USDA-FAS BR2026-0021 · OIV 2024 · Sisdevin/Seapi-RS (Cenecoop)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P6 · FATORES AGRONÔMICOS E DE TERROIR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Amplitude térmica, maturação seca e inverno definido: a tríade climática que separa vinhos comuns de grandes vinhos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4350" y="1139428"/>
            <a:ext cx="928688" cy="232172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6" name="Text 3"/>
          <p:cNvSpPr/>
          <p:nvPr/>
        </p:nvSpPr>
        <p:spPr>
          <a:xfrm>
            <a:off x="514350" y="1139428"/>
            <a:ext cx="928688" cy="232172"/>
          </a:xfrm>
          <a:prstGeom prst="rect">
            <a:avLst/>
          </a:prstGeom>
          <a:noFill/>
          <a:ln/>
        </p:spPr>
        <p:txBody>
          <a:bodyPr wrap="none" lIns="102108" tIns="76581" rIns="102108" bIns="76581" rtlCol="0" anchor="ctr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FATOR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1443038" y="1139428"/>
            <a:ext cx="1714500" cy="232172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8" name="Text 5"/>
          <p:cNvSpPr/>
          <p:nvPr/>
        </p:nvSpPr>
        <p:spPr>
          <a:xfrm>
            <a:off x="1443038" y="1139428"/>
            <a:ext cx="1714500" cy="232172"/>
          </a:xfrm>
          <a:prstGeom prst="rect">
            <a:avLst/>
          </a:prstGeom>
          <a:noFill/>
          <a:ln/>
        </p:spPr>
        <p:txBody>
          <a:bodyPr wrap="square" lIns="102108" tIns="76581" rIns="102108" bIns="76581" rtlCol="0" anchor="ctr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CONDIÇÃO FAVORÁVEL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3157538" y="1139428"/>
            <a:ext cx="1814513" cy="232172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0" name="Text 7"/>
          <p:cNvSpPr/>
          <p:nvPr/>
        </p:nvSpPr>
        <p:spPr>
          <a:xfrm>
            <a:off x="3157538" y="1139428"/>
            <a:ext cx="1814513" cy="232172"/>
          </a:xfrm>
          <a:prstGeom prst="rect">
            <a:avLst/>
          </a:prstGeom>
          <a:noFill/>
          <a:ln/>
        </p:spPr>
        <p:txBody>
          <a:bodyPr wrap="square" lIns="102108" tIns="76581" rIns="102108" bIns="76581" rtlCol="0" anchor="ctr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POR QUÊ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514350" y="1371600"/>
            <a:ext cx="928688" cy="460772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Temperatura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443038" y="1371600"/>
            <a:ext cx="1714500" cy="460772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13–21°C na estação de crescimento; 25–32°C no pleno desenvolvimento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157538" y="1371600"/>
            <a:ext cx="1814513" cy="460772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Regula o ritmo de maturação e o equilíbrio açúcar/acidez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14350" y="1832372"/>
            <a:ext cx="928688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Amplitude térmica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443038" y="1832372"/>
            <a:ext cx="1714500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Dias quentes + noites frias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157538" y="1832372"/>
            <a:ext cx="1814513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Açúcar e cor de dia; acidez e aromas preservados à noite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514350" y="2168128"/>
            <a:ext cx="928688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Insolação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1443038" y="2168128"/>
            <a:ext cx="1714500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 luminosidade na maturação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157538" y="2168128"/>
            <a:ext cx="1814513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Açúcares, antocianinas (cor) e taninos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14350" y="2503884"/>
            <a:ext cx="928688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Chuva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443038" y="2503884"/>
            <a:ext cx="1714500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Moderada no ciclo; colheita seca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157538" y="2503884"/>
            <a:ext cx="1814513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Excesso dilui açúcares e favorece fungos (míldio, oídio)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14350" y="2839641"/>
            <a:ext cx="928688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Inverno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443038" y="2839641"/>
            <a:ext cx="1714500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Frio e bem definido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3157538" y="2839641"/>
            <a:ext cx="1814513" cy="335756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Dormência da videira e brotação uniforme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14350" y="3175397"/>
            <a:ext cx="928688" cy="332184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Solo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443038" y="3175397"/>
            <a:ext cx="1714500" cy="332184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Bem drenado, profundo, pH 5,5–6,5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157538" y="3175397"/>
            <a:ext cx="1814513" cy="332184"/>
          </a:xfrm>
          <a:prstGeom prst="rect">
            <a:avLst/>
          </a:prstGeom>
          <a:noFill/>
          <a:ln/>
        </p:spPr>
        <p:txBody>
          <a:bodyPr wrap="square" lIns="102108" tIns="85090" rIns="102108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Raízes saudáveis, sem encharcamento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14350" y="3607594"/>
            <a:ext cx="4457700" cy="34859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55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Latitude clássica ·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 faixa vitivinícola tradicional situa-se entre 30° e 50° em ambos os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hemisférios. Fontes: Embrapa Uva e Vinho; GuildSomm (G. Jones); USDA/FAS.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5500688" y="1139428"/>
            <a:ext cx="3128963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APLICAÇÃO AOS TERROIRS BRASILEIROS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500688" y="1350169"/>
            <a:ext cx="31289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Serra Gaúcha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00688" y="1582341"/>
            <a:ext cx="133945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1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~29°S · SUBTROPICAL ÚMIDO</a:t>
            </a:r>
            <a:endParaRPr lang="en-US" sz="500" dirty="0"/>
          </a:p>
        </p:txBody>
      </p:sp>
      <p:sp>
        <p:nvSpPr>
          <p:cNvPr id="33" name="Text 30"/>
          <p:cNvSpPr/>
          <p:nvPr/>
        </p:nvSpPr>
        <p:spPr>
          <a:xfrm>
            <a:off x="5500688" y="1728788"/>
            <a:ext cx="3128963" cy="41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Verões moderados, invernos frios e boa amplitude térmica —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excelência em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espumantes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(acidez elevada). Umidade alta é o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principal desafio.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500688" y="2347336"/>
            <a:ext cx="31289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Campanha Gaúcha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00688" y="2579508"/>
            <a:ext cx="139303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1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~31°S · MAIS SECA E QUENTE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5500688" y="2725955"/>
            <a:ext cx="3128963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Maturação mais completa das uvas — vocação para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tintos finos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encorpados.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5500688" y="3207376"/>
            <a:ext cx="31289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Vale do São Francisco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500688" y="3439548"/>
            <a:ext cx="133945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00" b="1" spc="1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~9°S · SEMIÁRIDO IRRIGADO</a:t>
            </a:r>
            <a:endParaRPr lang="en-US" sz="500" dirty="0"/>
          </a:p>
        </p:txBody>
      </p:sp>
      <p:sp>
        <p:nvSpPr>
          <p:cNvPr id="39" name="Text 36"/>
          <p:cNvSpPr/>
          <p:nvPr/>
        </p:nvSpPr>
        <p:spPr>
          <a:xfrm>
            <a:off x="5500688" y="3585995"/>
            <a:ext cx="3128963" cy="41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Exceção tropical: sol o ano todo e irrigação controlada do rio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permitem </a:t>
            </a: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2+ colheitas por ano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 caso único na vitivinicultura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mundial.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P7 · EXPORTAÇÕES NO ANO MAIS RECENTE DA BASE (2025)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US$ 21,5 milhões exportados em 2025: vinhos de mesa lideram, mas o suco de uva quase empata com metade do volume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1139428"/>
            <a:ext cx="31003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555555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TOTAL EXPORTADO · 3 CATEGORIAS · 2025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514350" y="1257300"/>
            <a:ext cx="3100388" cy="40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75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US$ 21,5 mi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514350" y="1690892"/>
            <a:ext cx="31003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10,25 milhões de Kg/L embarcados (Vitibrasil/Embrapa)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514350" y="1990930"/>
            <a:ext cx="1019826" cy="210741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" y="1990930"/>
            <a:ext cx="1019826" cy="21074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500" b="1" spc="1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PRODUTO</a:t>
            </a:r>
            <a:endParaRPr lang="en-US" sz="500" dirty="0"/>
          </a:p>
        </p:txBody>
      </p:sp>
      <p:sp>
        <p:nvSpPr>
          <p:cNvPr id="10" name="Shape 7"/>
          <p:cNvSpPr/>
          <p:nvPr/>
        </p:nvSpPr>
        <p:spPr>
          <a:xfrm>
            <a:off x="1534176" y="1990930"/>
            <a:ext cx="836265" cy="210741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1" name="Text 8"/>
          <p:cNvSpPr/>
          <p:nvPr/>
        </p:nvSpPr>
        <p:spPr>
          <a:xfrm>
            <a:off x="1534176" y="1990930"/>
            <a:ext cx="836265" cy="21074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500" b="1" spc="1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VALOR (US$)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2370441" y="1990930"/>
            <a:ext cx="775097" cy="210741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3" name="Text 10"/>
          <p:cNvSpPr/>
          <p:nvPr/>
        </p:nvSpPr>
        <p:spPr>
          <a:xfrm>
            <a:off x="2370441" y="1990930"/>
            <a:ext cx="775097" cy="21074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500" b="1" spc="1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VOLUME (L)</a:t>
            </a:r>
            <a:endParaRPr lang="en-US" sz="500" dirty="0"/>
          </a:p>
        </p:txBody>
      </p:sp>
      <p:sp>
        <p:nvSpPr>
          <p:cNvPr id="14" name="Shape 11"/>
          <p:cNvSpPr/>
          <p:nvPr/>
        </p:nvSpPr>
        <p:spPr>
          <a:xfrm>
            <a:off x="3145538" y="1990930"/>
            <a:ext cx="469199" cy="210741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5" name="Text 12"/>
          <p:cNvSpPr/>
          <p:nvPr/>
        </p:nvSpPr>
        <p:spPr>
          <a:xfrm>
            <a:off x="3145538" y="1990930"/>
            <a:ext cx="469199" cy="21074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500" b="1" spc="1" kern="0" dirty="0">
                <a:solidFill>
                  <a:srgbClr val="FFFFFF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US$/L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514350" y="2201670"/>
            <a:ext cx="1019826" cy="20895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Vinhos de mesa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534176" y="2201670"/>
            <a:ext cx="836265" cy="20895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10.846.438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2370441" y="2201670"/>
            <a:ext cx="775097" cy="20895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6.540.975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3145538" y="2201670"/>
            <a:ext cx="469199" cy="208955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1,66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14350" y="2410625"/>
            <a:ext cx="1019826" cy="21252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Suco de uva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534176" y="2410625"/>
            <a:ext cx="836265" cy="21252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8.142.080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2370441" y="2410625"/>
            <a:ext cx="775097" cy="21252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3.029.975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3145538" y="2410625"/>
            <a:ext cx="469199" cy="212527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2,69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" y="2623152"/>
            <a:ext cx="1019826" cy="216098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Espumantes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534176" y="2623152"/>
            <a:ext cx="836265" cy="216098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2.560.852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2370441" y="2623152"/>
            <a:ext cx="775097" cy="216098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683.060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3145538" y="2623152"/>
            <a:ext cx="469199" cy="216098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3,75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514350" y="2839250"/>
            <a:ext cx="1019826" cy="226814"/>
          </a:xfrm>
          <a:prstGeom prst="rect">
            <a:avLst/>
          </a:prstGeom>
          <a:noFill/>
          <a:ln/>
        </p:spPr>
        <p:txBody>
          <a:bodyPr wrap="square" lIns="85090" tIns="102108" rIns="85090" bIns="0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Total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1534176" y="2839250"/>
            <a:ext cx="836265" cy="226814"/>
          </a:xfrm>
          <a:prstGeom prst="rect">
            <a:avLst/>
          </a:prstGeom>
          <a:noFill/>
          <a:ln/>
        </p:spPr>
        <p:txBody>
          <a:bodyPr wrap="square" lIns="85090" tIns="102108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21.549.370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370441" y="2839250"/>
            <a:ext cx="775097" cy="226814"/>
          </a:xfrm>
          <a:prstGeom prst="rect">
            <a:avLst/>
          </a:prstGeom>
          <a:noFill/>
          <a:ln/>
        </p:spPr>
        <p:txBody>
          <a:bodyPr wrap="square" lIns="85090" tIns="102108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10.254.010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3145538" y="2839250"/>
            <a:ext cx="469199" cy="226814"/>
          </a:xfrm>
          <a:prstGeom prst="rect">
            <a:avLst/>
          </a:prstGeom>
          <a:noFill/>
          <a:ln/>
        </p:spPr>
        <p:txBody>
          <a:bodyPr wrap="square" lIns="85090" tIns="102108" rIns="85090" bIns="0" rtlCol="0" anchor="ctr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—</a:t>
            </a:r>
            <a:endParaRPr lang="en-US" sz="6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63" y="1587698"/>
            <a:ext cx="4000500" cy="26431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4350" y="4779169"/>
            <a:ext cx="8115300" cy="3643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Insight ·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Espumantes (US$ 3,75/L) e suco de uva (US$ 2,69/L) têm preço médio muito superior ao vinho de mesa (US$ 1,66/L). O crescimento sustentável da </a:t>
            </a:r>
            <a:r>
              <a:rPr lang="en-US" sz="65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receita externa passa por priorizar as categorias de maior valor unitário — e não apenas volume.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285750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CONCLUSÕES E RECOMENDAÇÕES ESTRATÉGICAS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53628"/>
            <a:ext cx="81153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Defender o mercado interno, diversificar destinos e apostar nas categorias de maior valor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4350" y="1225153"/>
            <a:ext cx="32861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71550" y="1225153"/>
            <a:ext cx="33361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DEFESA DO MERCADO INTERNO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971550" y="1400175"/>
            <a:ext cx="333613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Brasil importou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US$ 515 mi só em vinhos de mesa em 2025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(recorde). Posicionar o produto nacional na faixa de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entrada/média dominada pelo Chile, comunicando a qualidade das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safras recentes.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14350" y="2178844"/>
            <a:ext cx="32861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71550" y="2178844"/>
            <a:ext cx="33361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DIVERSIFICAÇÃO DE DESTINOS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71550" y="2353866"/>
            <a:ext cx="333613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Reduzir a dependência do Paraguai (vinhos) e reativar mercados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alto valor —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Japão e EUA para suco; EUA e Reino Unido para espumantes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—, atentando ao risco tarifário dos EUA (sobretaxas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até 37,5% em 2025).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14350" y="3132534"/>
            <a:ext cx="328613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71550" y="3132534"/>
            <a:ext cx="33361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APOSTA EM ESPUMANTES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971550" y="3307556"/>
            <a:ext cx="33361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Única categoria com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crescimento estrutural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 exportação e no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consumo interno (+16,9% no 1º sem. 2025), além do maior preço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médio exportado (US$ 3,75/L).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836319" y="1225153"/>
            <a:ext cx="328613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293519" y="1225153"/>
            <a:ext cx="33361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RECUPERAÇÃO DO SUCO DE UVA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293519" y="1400175"/>
            <a:ext cx="33361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case histórico no Japão (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US$ 203,8 mi acumulados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prova a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competitividade global; reverter a queda doméstica com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inovação de portfólio e campanhas de benefício à saúde.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836319" y="2035969"/>
            <a:ext cx="328613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293519" y="2035969"/>
            <a:ext cx="33361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GESTÃO DE RISCO CLIMÁTICO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293519" y="2210991"/>
            <a:ext cx="33361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Eventos extremos (safra 2024: </a:t>
            </a: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-41% na produção de vinho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exigem diversificação regional — Campanha Gaúcha, Vale do São </a:t>
            </a:r>
            <a:r>
              <a:rPr lang="en-US" sz="65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Francisco — e proteção via seguro agrícola.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14350" y="4253768"/>
            <a:ext cx="8115300" cy="603982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21" name="Text 18"/>
          <p:cNvSpPr/>
          <p:nvPr/>
        </p:nvSpPr>
        <p:spPr>
          <a:xfrm>
            <a:off x="900113" y="4396643"/>
            <a:ext cx="7529513" cy="318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dados de 56 anos mostram um setor desafiado pelo déficit comercial, mas com ativos claros: </a:t>
            </a:r>
            <a:r>
              <a:rPr lang="en-US" sz="650" b="1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mercado interno aquecido, terroirs competitivos e categorias premium em ascensão</a:t>
            </a:r>
            <a:r>
              <a:rPr lang="en-US" sz="7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14325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ENCERRAMENTO · TRANSPARÊNCIA ANALÍTICA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514350" y="496491"/>
            <a:ext cx="81153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22F3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Metodologia e fontes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14350" y="996553"/>
            <a:ext cx="3400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PIPELINE DE DADOS EM PYTHON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14350" y="1221581"/>
            <a:ext cx="314325" cy="5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71550" y="1221581"/>
            <a:ext cx="2943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Extração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71550" y="1396603"/>
            <a:ext cx="27503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Download programático dos 6 CSVs oficiais do Vitibrasil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971550" y="1538027"/>
            <a:ext cx="500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021556" y="1538027"/>
            <a:ext cx="40005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ExpVinho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421606" y="1538027"/>
            <a:ext cx="10001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521619" y="1538027"/>
            <a:ext cx="65008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ExpEspumantes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171700" y="1538027"/>
            <a:ext cx="10001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271713" y="1538027"/>
            <a:ext cx="3500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ExpSuco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621756" y="1538027"/>
            <a:ext cx="10001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721769" y="1538027"/>
            <a:ext cx="4500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ImpVinhos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3171825" y="1538027"/>
            <a:ext cx="500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971550" y="1679451"/>
            <a:ext cx="65008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ImpEspumantes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621631" y="1679451"/>
            <a:ext cx="10001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721644" y="1679451"/>
            <a:ext cx="3500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ImpSuco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2071688" y="1679451"/>
            <a:ext cx="120015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), série 1970–2025, via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271838" y="1679451"/>
            <a:ext cx="40005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requests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671888" y="1679451"/>
            <a:ext cx="500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" y="2042331"/>
            <a:ext cx="314325" cy="726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71550" y="2042331"/>
            <a:ext cx="2943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Transformação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971550" y="2217353"/>
            <a:ext cx="135162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Normalização wide→long com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323170" y="2217353"/>
            <a:ext cx="3000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pandas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2623207" y="2217353"/>
            <a:ext cx="11501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(colunas duplicadas de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971550" y="2358777"/>
            <a:ext cx="27003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ano separadas em quantidade Kg e valor US$), conversão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971550" y="2500201"/>
            <a:ext cx="255031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numérica e exclusão de linhas agregadoras ("Total",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971550" y="2641625"/>
            <a:ext cx="140017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"Outros", "Não declarados").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514350" y="3004505"/>
            <a:ext cx="314325" cy="5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71550" y="3004505"/>
            <a:ext cx="2943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Análise e visualização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971550" y="3179527"/>
            <a:ext cx="27503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Rankings acumulados por país, séries temporais, KPIs do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971550" y="3320951"/>
            <a:ext cx="26503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ano mais recente e balança comercial, com gráficos em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971550" y="3462375"/>
            <a:ext cx="5000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matplotlib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1471613" y="3462375"/>
            <a:ext cx="15001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621631" y="3462375"/>
            <a:ext cx="3500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seaborn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971675" y="3462375"/>
            <a:ext cx="500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4557713" y="996553"/>
            <a:ext cx="407193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CRITÉRIOS DE ANÁLISE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4557713" y="1207294"/>
            <a:ext cx="4071938" cy="34859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Ranking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pelo valor acumulado em US$ (o volume em Kg é reportado como métrica 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complementar).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4557713" y="1555886"/>
            <a:ext cx="4071938" cy="34859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Equivalência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Kg ≈ 1 L para vinhos e espumantes, conforme convenção da própria 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Embrapa.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4557713" y="1904479"/>
            <a:ext cx="4071938" cy="34859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600" b="1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Recorte temporal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1970–2025; dados de 2025 refletem a última atualização da base </a:t>
            </a: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(05/09/2025).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4557713" y="2538822"/>
            <a:ext cx="407193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722F3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FONTES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4557713" y="2649550"/>
            <a:ext cx="4071938" cy="322138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5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Embrapa Uva e Vinho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 Vitibrasil, banco de dados de uva, vinho e derivados (base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principal)</a:t>
            </a:r>
            <a:endParaRPr lang="en-US" sz="550" dirty="0"/>
          </a:p>
        </p:txBody>
      </p:sp>
      <p:sp>
        <p:nvSpPr>
          <p:cNvPr id="46" name="Text 43"/>
          <p:cNvSpPr/>
          <p:nvPr/>
        </p:nvSpPr>
        <p:spPr>
          <a:xfrm>
            <a:off x="4557713" y="2971688"/>
            <a:ext cx="4071938" cy="1825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5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OIV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 State of the World Vine and Wine Sector 2024</a:t>
            </a:r>
            <a:endParaRPr lang="en-US" sz="550" dirty="0"/>
          </a:p>
        </p:txBody>
      </p:sp>
      <p:sp>
        <p:nvSpPr>
          <p:cNvPr id="47" name="Text 44"/>
          <p:cNvSpPr/>
          <p:nvPr/>
        </p:nvSpPr>
        <p:spPr>
          <a:xfrm>
            <a:off x="4557713" y="3154189"/>
            <a:ext cx="4071938" cy="1825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5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USDA / FAS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 Brazilian Grape and Wine Market Overview (BR2026-0021, mai/2026)</a:t>
            </a:r>
            <a:endParaRPr lang="en-US" sz="550" dirty="0"/>
          </a:p>
        </p:txBody>
      </p:sp>
      <p:sp>
        <p:nvSpPr>
          <p:cNvPr id="48" name="Text 45"/>
          <p:cNvSpPr/>
          <p:nvPr/>
        </p:nvSpPr>
        <p:spPr>
          <a:xfrm>
            <a:off x="4557713" y="3336689"/>
            <a:ext cx="4071938" cy="1825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5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IBGE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 área plantada e produção de uvas por estado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4557713" y="3519190"/>
            <a:ext cx="4071938" cy="322138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550" b="1" dirty="0">
                <a:solidFill>
                  <a:srgbClr val="1A1A1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Sisdevin / Seapi-RS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— comercialização RS, elaboração Cenecoop (Portal A Vindima, </a:t>
            </a:r>
            <a:r>
              <a:rPr lang="en-US" sz="600" dirty="0">
                <a:solidFill>
                  <a:srgbClr val="5555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ago/2025)</a:t>
            </a:r>
            <a:endParaRPr lang="en-US" sz="550" dirty="0"/>
          </a:p>
        </p:txBody>
      </p:sp>
      <p:sp>
        <p:nvSpPr>
          <p:cNvPr id="50" name="Text 47"/>
          <p:cNvSpPr/>
          <p:nvPr/>
        </p:nvSpPr>
        <p:spPr>
          <a:xfrm>
            <a:off x="514350" y="4747022"/>
            <a:ext cx="20574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DATA ANALYTICS · VITIVINICULTURA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8115300" y="4747022"/>
            <a:ext cx="51435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C9A227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OBRIGADA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2026-07-29T01:15:24Z</dcterms:created>
  <dcterms:modified xsi:type="dcterms:W3CDTF">2026-07-29T01:15:24Z</dcterms:modified>
</cp:coreProperties>
</file>